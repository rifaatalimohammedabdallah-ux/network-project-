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1478282"/>
            <a:ext cx="714375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98589" y="2422178"/>
            <a:ext cx="314682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مشروع الشبكات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998589" y="3149054"/>
            <a:ext cx="3146822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تصميم وتطبيق شبكة آمنة وفعالة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4109442" y="3711625"/>
            <a:ext cx="925116" cy="364331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إعداد الطالب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5197078" y="568821"/>
            <a:ext cx="351829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توبولوجيا الشبكة والأجهزة المستخدمة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96056" y="2171700"/>
            <a:ext cx="246219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الراوتر المركزي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96056" y="2518172"/>
            <a:ext cx="246219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استخدمت راوتر Cisco 1941 ليكون المركز الرئيسي وبوابة العبور للشبكة.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96056" y="3043907"/>
            <a:ext cx="2462194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يوفر خدمات التوجيه بين الـ VLANs.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396056" y="3252862"/>
            <a:ext cx="2462194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يدير خدمات NAT و VPN.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96056" y="3461817"/>
            <a:ext cx="2462194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يعمل كخادم DHCP أساسي.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793956" y="3043907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93956" y="3252862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793956" y="3461817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44" y="1603772"/>
            <a:ext cx="428625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48047" y="2171700"/>
            <a:ext cx="246222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السويتشات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48047" y="2518172"/>
            <a:ext cx="24622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توزيع المهام على سويتشات متنوعة لضمان كفاءة الأداء: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48047" y="3043907"/>
            <a:ext cx="2462222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سويتش عادي (Switch1) للأجهزة الطرفية.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348047" y="3252862"/>
            <a:ext cx="2462222" cy="275034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سويتشات متعددة الطبقات (Switch0, Switch2).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348047" y="3599334"/>
            <a:ext cx="2462222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توزيع الحمل وتقليل الازدحام.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745975" y="3043907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745975" y="3252862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745975" y="3599334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97" y="1603772"/>
            <a:ext cx="385763" cy="342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85778" y="2171700"/>
            <a:ext cx="24764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الأجهزة الطرفية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85778" y="2518172"/>
            <a:ext cx="24764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تتضمن الشبكة أجهزة كمبيوتر تمثل المستخدمين في أقسام مختلفة: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85778" y="3043907"/>
            <a:ext cx="2476481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PC0, PC1, PC2 للموظفين.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285778" y="3252862"/>
            <a:ext cx="2476481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خادم مركزي (Server0).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285778" y="3461817"/>
            <a:ext cx="2476481" cy="137517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توصيل يضمن عزل الأقسام تقنياً.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2697966" y="3043907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2697966" y="3252862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2697966" y="3461817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472238" y="568821"/>
            <a:ext cx="224313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تقسيم الشبكة (VLANs)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760052" y="1600200"/>
            <a:ext cx="216963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الأهداف التنظيمية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60052" y="1946672"/>
            <a:ext cx="216963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قمت بتقسيم الشبكة إلى عدة VLANs لضمان التنظيم والأمان. يساهم هذا التقسيم في تقليل الازدحام وتسهيل التحكم في الوصول بشكل فعال.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841175" y="1600200"/>
            <a:ext cx="347596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توزيع الـ VLANs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21591" y="1935956"/>
            <a:ext cx="991977" cy="246459"/>
          </a:xfrm>
          <a:prstGeom prst="rect">
            <a:avLst/>
          </a:prstGeom>
          <a:solidFill>
            <a:srgbClr val="3182CE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1591" y="1935956"/>
            <a:ext cx="991977" cy="246459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رقم الـ VLAN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75314" y="1935956"/>
            <a:ext cx="1249263" cy="246459"/>
          </a:xfrm>
          <a:prstGeom prst="rect">
            <a:avLst/>
          </a:prstGeom>
          <a:solidFill>
            <a:srgbClr val="3182CE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5314" y="1935956"/>
            <a:ext cx="1249263" cy="246459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الاسم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844747" y="1935956"/>
            <a:ext cx="1232046" cy="246459"/>
          </a:xfrm>
          <a:prstGeom prst="rect">
            <a:avLst/>
          </a:prstGeom>
          <a:solidFill>
            <a:srgbClr val="3182CE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44747" y="1935956"/>
            <a:ext cx="1232046" cy="246459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القسم المستهدف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25163" y="2175272"/>
            <a:ext cx="988405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071379" y="2175272"/>
            <a:ext cx="1253784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IT_VLAN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844747" y="2175272"/>
            <a:ext cx="1226632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تقنية المعلومات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25163" y="2412802"/>
            <a:ext cx="988405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071379" y="2412802"/>
            <a:ext cx="1253784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FINANCE_VLAN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844747" y="2412802"/>
            <a:ext cx="1226632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المالية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25163" y="2650331"/>
            <a:ext cx="988405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071379" y="2650331"/>
            <a:ext cx="1253784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SERVER_VLAN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844747" y="2650331"/>
            <a:ext cx="1226632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الخوادم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25163" y="2887861"/>
            <a:ext cx="988405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999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071379" y="2887861"/>
            <a:ext cx="1253784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BLACKHOLE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844747" y="2887861"/>
            <a:ext cx="1226632" cy="237530"/>
          </a:xfrm>
          <a:prstGeom prst="rect">
            <a:avLst/>
          </a:prstGeom>
          <a:noFill/>
          <a:ln/>
        </p:spPr>
        <p:txBody>
          <a:bodyPr wrap="none" lIns="127508" tIns="102108" rIns="1275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الحماية (Native)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14313" y="1600200"/>
            <a:ext cx="21839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الفوائد التقنية</a:t>
            </a:r>
            <a:endParaRPr lang="en-US" sz="1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963" y="1932384"/>
            <a:ext cx="114300" cy="15001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98025" y="2060972"/>
            <a:ext cx="1714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أمان عالٍ عبر عزل الأقسام تقنياً.</a:t>
            </a:r>
            <a:endParaRPr lang="en-US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675" y="2502433"/>
            <a:ext cx="128588" cy="15001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4460" y="2631021"/>
            <a:ext cx="16537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تحسين الأداء بتقليل نطاق البث.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388" y="3072482"/>
            <a:ext cx="142875" cy="15001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46221" y="3201070"/>
            <a:ext cx="183773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سهولة إدارة الشبكة والمستخدمين.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5577483" y="568821"/>
            <a:ext cx="31378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توزيع عناوين الـ IP (يدوي وتلقائي)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1526977"/>
            <a:ext cx="32146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الإعداد اليدوي (Manual)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اعتمدت في هذه المرحلة ضبط عناوين IP يدوياً لبعض الأجهزة pc1,pc0 لضمان ثبات العناوين وعدم تغيرها.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360337" y="3192475"/>
            <a:ext cx="25336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هذا الإجراء ضروري للخوادم لضمان وصول الأجهزة الأخرى إليها عبر عنوان ثابت ومحدد.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237" y="1526977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التوزيع التلقائي (DHCP)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12328" y="2446734"/>
            <a:ext cx="25336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تفعيل خدمة DHCP لتخصيص العناوين للأجهزة تلقائياً، مما يسهل عملية الإدارة ويقلل الأخطاء.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312328" y="3192475"/>
            <a:ext cx="25336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هذه هي التفاصيل الأساسية التي اعتمدت عليها في ربط الأجهزة ببعضها البعض داخل الشبكة.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91" y="1526977"/>
            <a:ext cx="357188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نماذج تطبيقية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71503" y="2682478"/>
            <a:ext cx="23050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جهاز PC0: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تم ضبطه ليستلم عنوان IP 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الخاص به عبر DHCP من السيرفر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71503" y="3536826"/>
            <a:ext cx="23050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الخادم: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تم ضبطه بعنوان IP يدوي ثابت 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لضمان استمرارية الخدمات.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690122" y="568821"/>
            <a:ext cx="202525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التوجيه بين الـ VLANs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069" y="1532334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أهمية التوجيه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لتمكين التواصل بين الـ VLANs المختلفة، قمت بتفعيل التوجيه (Routing). ساهمت هذه الخطوة في ربط الشبكة بالكامل بشكل متسق ومنظم رغم العزل المنطقي.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812" y="1532334"/>
            <a:ext cx="257175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Router-on-a-Stick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312328" y="2446734"/>
            <a:ext cx="25336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طبقتها على الراوتر (Router0) لتمكين التوجيه بين الـ VLANs المرتبطة بالسويتش العادي عبر منفذ فيزيائي واحد مقسم منطقياً.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3312328" y="3206762"/>
            <a:ext cx="2533659" cy="25181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استخدمت Sub-interfaces لكل VLAN.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803" y="1532334"/>
            <a:ext cx="257175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Layer 3 Switching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50059" y="2446734"/>
            <a:ext cx="25479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استخدمت السويتشات متعددة الطبقات لضمان توجيه أسرع ومباشر داخل السويتش نفسه دون الحاجة للرجوع إلى الراوتر في كل عملية.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50059" y="3206762"/>
            <a:ext cx="2547919" cy="25181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اعتمدت على واجهات SVI للسرعة.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227564" y="568821"/>
            <a:ext cx="248781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خدمة الـ DHCP في الشبكة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96056" y="2243138"/>
            <a:ext cx="246219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الراوتر (Router0)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96056" y="2589609"/>
            <a:ext cx="24621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الراوتر مسؤول عن: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96056" y="2909627"/>
            <a:ext cx="2462194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إدارة عناوين قسم تقنية المعلومات.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96056" y="3150729"/>
            <a:ext cx="2462194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توفير البوابة الافتراضية تلقائياً.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663" y="2909627"/>
            <a:ext cx="128588" cy="12858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663" y="3150729"/>
            <a:ext cx="128588" cy="12858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859" y="1571625"/>
            <a:ext cx="428625" cy="4286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48047" y="2243138"/>
            <a:ext cx="246222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السويتش (Switch0)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348047" y="2589609"/>
            <a:ext cx="24622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استخدمت قدرات السويتش متعدد الطبقات لتوزيع العناوين داخلياً: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348047" y="3115345"/>
            <a:ext cx="2462222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إدارة عناوين قسم المالية.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348047" y="3356446"/>
            <a:ext cx="2462222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تقليل حركة البيانات الموجهة للراوتر.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681" y="3115345"/>
            <a:ext cx="128588" cy="12858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1681" y="3356446"/>
            <a:ext cx="128588" cy="128588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706" y="1571625"/>
            <a:ext cx="428625" cy="4286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285778" y="2243138"/>
            <a:ext cx="24764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الخادم (Server0)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285778" y="2589609"/>
            <a:ext cx="24764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الخادم مخصص لتوزيع العناوين لشبكة الخوادم والأجهزة المرتبطة بها: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285778" y="3115345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توزيع العناوين لـ VLAN 200.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285778" y="3356446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ضمان استقرار توزيع العناوين.</a:t>
            </a:r>
            <a:endParaRPr lang="en-US" sz="950" dirty="0"/>
          </a:p>
        </p:txBody>
      </p:sp>
      <p:sp>
        <p:nvSpPr>
          <p:cNvPr id="23" name="Text 14"/>
          <p:cNvSpPr/>
          <p:nvPr/>
        </p:nvSpPr>
        <p:spPr>
          <a:xfrm>
            <a:off x="285778" y="3597548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سهولة مراقبة الأجهزة المتصلة.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672" y="3115345"/>
            <a:ext cx="128588" cy="128588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672" y="3356446"/>
            <a:ext cx="128588" cy="128588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3672" y="3597548"/>
            <a:ext cx="12858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157913" y="568821"/>
            <a:ext cx="255746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حماية الشبكة (NAT &amp; ACL)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206" y="1532334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خدمة الـ NAT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تفعيل NAT على الراوتر لتحويل العناوين الداخلية إلى عناوين عامة عند الخروج للإنترنت.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360337" y="2972470"/>
            <a:ext cx="2533631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إخفاء تفاصيل البنية التحتية للشبكة.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360337" y="3181424"/>
            <a:ext cx="2533631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توفير استهلاك عناوين IP العامة.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360337" y="3390379"/>
            <a:ext cx="2533631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توفير طبقة حماية إضافية من الخارج.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669" y="2972470"/>
            <a:ext cx="114300" cy="1143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669" y="3181424"/>
            <a:ext cx="114300" cy="1143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669" y="3390379"/>
            <a:ext cx="114300" cy="11430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362" y="1532334"/>
            <a:ext cx="428625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قوائم الـ ACL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3312328" y="2446734"/>
            <a:ext cx="25336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طبقت قوائم التحكم بالوصول (ACLs) لتحديد الصلاحيات ومنع الوصول غير المصرح به للأقسام.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3312328" y="3178187"/>
            <a:ext cx="253365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منع الوصول غير المصرح به تقنياً.</a:t>
            </a:r>
            <a:endParaRPr lang="en-US" sz="850" dirty="0"/>
          </a:p>
        </p:txBody>
      </p:sp>
      <p:sp>
        <p:nvSpPr>
          <p:cNvPr id="18" name="Text 10"/>
          <p:cNvSpPr/>
          <p:nvPr/>
        </p:nvSpPr>
        <p:spPr>
          <a:xfrm>
            <a:off x="3312328" y="3387142"/>
            <a:ext cx="253365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تصفية حركة البيانات (Traffic Filtering).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3312328" y="3596097"/>
            <a:ext cx="253365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تأمين الخوادم والبيانات الحساسة.</a:t>
            </a:r>
            <a:endParaRPr lang="en-US" sz="8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687" y="3178187"/>
            <a:ext cx="114300" cy="11430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1687" y="3387142"/>
            <a:ext cx="114300" cy="11430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1687" y="3596097"/>
            <a:ext cx="114300" cy="11430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7941" y="1532334"/>
            <a:ext cx="300038" cy="3429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الـ VPN الآمن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250059" y="2446734"/>
            <a:ext cx="2547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إعداد VPN لتوفير اتصال آمن ومشفر للمستخدمين المصرح لهم من خارج الشبكة.</a:t>
            </a:r>
            <a:endParaRPr lang="en-US" sz="950" dirty="0"/>
          </a:p>
        </p:txBody>
      </p:sp>
      <p:sp>
        <p:nvSpPr>
          <p:cNvPr id="26" name="Text 14"/>
          <p:cNvSpPr/>
          <p:nvPr/>
        </p:nvSpPr>
        <p:spPr>
          <a:xfrm>
            <a:off x="250059" y="2972470"/>
            <a:ext cx="254791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تشفير كامل لكافة البيانات المنقولة.</a:t>
            </a:r>
            <a:endParaRPr lang="en-US" sz="850" dirty="0"/>
          </a:p>
        </p:txBody>
      </p:sp>
      <p:sp>
        <p:nvSpPr>
          <p:cNvPr id="27" name="Text 15"/>
          <p:cNvSpPr/>
          <p:nvPr/>
        </p:nvSpPr>
        <p:spPr>
          <a:xfrm>
            <a:off x="250059" y="3181424"/>
            <a:ext cx="254791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اتصال آمن عبر شبكة الإنترنت العامة.</a:t>
            </a:r>
            <a:endParaRPr lang="en-US" sz="850" dirty="0"/>
          </a:p>
        </p:txBody>
      </p:sp>
      <p:sp>
        <p:nvSpPr>
          <p:cNvPr id="28" name="Text 16"/>
          <p:cNvSpPr/>
          <p:nvPr/>
        </p:nvSpPr>
        <p:spPr>
          <a:xfrm>
            <a:off x="250059" y="3390379"/>
            <a:ext cx="2547919" cy="137517"/>
          </a:xfrm>
          <a:prstGeom prst="rect">
            <a:avLst/>
          </a:prstGeom>
          <a:noFill/>
          <a:ln/>
        </p:spPr>
        <p:txBody>
          <a:bodyPr wrap="square" lIns="0" tIns="0" rIns="212598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ضمان خصوصية وسلامة البيانات.</a:t>
            </a:r>
            <a:endParaRPr lang="en-US" sz="8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3678" y="2972470"/>
            <a:ext cx="114300" cy="114300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3678" y="3181424"/>
            <a:ext cx="114300" cy="114300"/>
          </a:xfrm>
          <a:prstGeom prst="rect">
            <a:avLst/>
          </a:prstGeom>
        </p:spPr>
      </p:pic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3678" y="3390379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7352705" y="568821"/>
            <a:ext cx="136267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بروتوكول ARP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931" y="1532334"/>
            <a:ext cx="300038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العنصر الأساسي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يعتبر بروتوكول ARP المسؤول الأول عن ربط عناوين IP المنطقية بعناوين MAC الفيزيائية داخل الشبكة المحلية.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360337" y="3192475"/>
            <a:ext cx="25336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بدون هذا البروتوكول، لا يمكن للأجهزة التعرف على مواقع بعضها البعض داخل بيئة Ethernet حتى في نفس الـ VLAN.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087" y="1532334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آلية العمل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12328" y="2446734"/>
            <a:ext cx="25336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يقوم البروتوكول بعملية مطابقة (Mapping) دقيقة بين العناوين: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433772" y="3086770"/>
            <a:ext cx="229077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Address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566" y="3276079"/>
            <a:ext cx="107156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33772" y="3502893"/>
            <a:ext cx="229077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Address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3312328" y="3761854"/>
            <a:ext cx="25336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يكتشف عنوان MAC للجهاز المستهدف لضمان وصول البيانات بدقة تامة.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078" y="1532334"/>
            <a:ext cx="342900" cy="3429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الأهمية في المشروع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250059" y="2446734"/>
            <a:ext cx="25479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حرصت على تفعيل بروتوكول ARP بشكل صحيح لضمان توجيه البيانات إلى الجهاز المستهدف بدقة وبدون تأخير.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250059" y="3192475"/>
            <a:ext cx="2547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هو البروتوكول التأسيسي الذي يمهد الطريق لعمل كافة الخدمات الأخرى مثل DHCP و NAT.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5973961" y="568821"/>
            <a:ext cx="27414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تأمين الـ VLANs ضد الهجمات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206" y="1532334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التهديدات الأمنية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التركيز بشكل مكثف على الحماية من هجمات VLAN Hopping و Double Tagging التي قد تمنح المهاجم وصولاً غير مصرح به للشبكات الأخرى.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362" y="1532334"/>
            <a:ext cx="428625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الإجراءات الوقائية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312328" y="2446734"/>
            <a:ext cx="25336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تعطيل خاصية التفاوض التلقائي (DTP) وضبط كافة منافذ المستخدمين على وضع الوصول (Access Mode) الصريح.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3312328" y="3171044"/>
            <a:ext cx="2533659" cy="396478"/>
          </a:xfrm>
          <a:prstGeom prst="rect">
            <a:avLst/>
          </a:prstGeom>
          <a:solidFill>
            <a:srgbClr val="F7FAFC"/>
          </a:solidFill>
          <a:ln w="9144">
            <a:solidFill>
              <a:srgbClr val="3182C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312328" y="3171044"/>
            <a:ext cx="2533659" cy="396478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switchport mode access</a:t>
            </a: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switchport nonegotiate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078" y="1532334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عزل الـ Native VLAN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50059" y="2446734"/>
            <a:ext cx="25479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تغيير الـ Native VLAN إلى 999 (BLACKHOLE) لمنع محاولات الاختراق عبر التلاعب بالـ Tagging وضمان عزلها التام.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250059" y="3171044"/>
            <a:ext cx="2547919" cy="241102"/>
          </a:xfrm>
          <a:prstGeom prst="rect">
            <a:avLst/>
          </a:prstGeom>
          <a:solidFill>
            <a:srgbClr val="F7FAFC"/>
          </a:solidFill>
          <a:ln w="9144">
            <a:solidFill>
              <a:srgbClr val="3182C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50059" y="3171044"/>
            <a:ext cx="2547919" cy="241102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switchport trunk native vlan 999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745486" y="568821"/>
            <a:ext cx="196988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التحقق من الإعدادات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206" y="1532334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0337" y="2100263"/>
            <a:ext cx="25336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أوامر التحقق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0337" y="2446734"/>
            <a:ext cx="25336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استخدمت مجموعة من الأوامر لفحص الشبكة والتأكد من سلامة التكوين لكافة المنافذ والـ VLANs: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360337" y="3171044"/>
            <a:ext cx="2533631" cy="80188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67494" y="3278200"/>
            <a:ext cx="23193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ip int brief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467494" y="3505014"/>
            <a:ext cx="23193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vlan brief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67494" y="3731828"/>
            <a:ext cx="23193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ip route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087" y="1532334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12328" y="2100263"/>
            <a:ext cx="253365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استقرار النظام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12328" y="2446734"/>
            <a:ext cx="25336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تمت مراجعة حالة المعالج والذاكرة في الأجهزة الأساسية لضمان عدم وجود أي ضغط ناتج عن الإعدادات الجديدة.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312328" y="3171044"/>
            <a:ext cx="2533659" cy="575072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419484" y="3278200"/>
            <a:ext cx="231934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processes cpu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419484" y="3505014"/>
            <a:ext cx="231934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memory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312328" y="3767547"/>
            <a:ext cx="25336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تظهر النتائج أن البنية التحتية مهيأة للعمل وفق المعايير المطلوبة.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803" y="1532334"/>
            <a:ext cx="257175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0059" y="2100263"/>
            <a:ext cx="25479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مراجعة التكوين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50059" y="2446734"/>
            <a:ext cx="25479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تمت مراجعة ملف الإعدادات الجاري (Running Config) للتأكد من عدم وجود تعارض بين الخدمات المطبقة.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50059" y="3171044"/>
            <a:ext cx="2547919" cy="575072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57215" y="3278200"/>
            <a:ext cx="23336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running-config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357215" y="3505014"/>
            <a:ext cx="23336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show ip dhcp binding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250059" y="3767547"/>
            <a:ext cx="2547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كافة الإعدادات موثقة ومستقرة داخل النظام.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6011466" y="568821"/>
            <a:ext cx="270390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الخلاصة والتعلم من المشروع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0" y="1603772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96056" y="2171700"/>
            <a:ext cx="246219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نتائج المشروع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96056" y="2518172"/>
            <a:ext cx="24621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بفضل الله تصميم شبكة متكاملة، آمنة، وفعالة تلبي كافة المتطلبات التقنية التي تم التخطيط لها في البداية.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396056" y="3263912"/>
            <a:ext cx="246219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الشبكة الآن مهيأة للتعامل مع المستخدمين وتأمين بياناتهم وفق أعلى المعايير المتبعة.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94" y="1603772"/>
            <a:ext cx="25717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8047" y="2171700"/>
            <a:ext cx="246222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الخبرات المكتسبة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48047" y="2518172"/>
            <a:ext cx="246222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اكتسبت من خلال هذا المشروع خبرة عملية في الربط بين العناوين الثابتة والتلقائية وتأمين الشبكات من الثغرات.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348047" y="3263912"/>
            <a:ext cx="246222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أظهر المشروع أهمية التخطيط السليم للـ VLANs والتوجيه في بناء بنية تحتية قوية ومستدامة.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634" y="1603772"/>
            <a:ext cx="428625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5778" y="2171700"/>
            <a:ext cx="24764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خاتمة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85778" y="2503884"/>
            <a:ext cx="2476481" cy="1074018"/>
          </a:xfrm>
          <a:prstGeom prst="rect">
            <a:avLst/>
          </a:prstGeom>
          <a:solidFill>
            <a:srgbClr val="F7FAFC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28653" y="2775347"/>
            <a:ext cx="2190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كانت تجربة تقنية ثرية ومفيدة جداً في مجال هندسة الشبكات.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28653" y="3293938"/>
            <a:ext cx="219073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شكراً لحسن استماعكم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2026-06-07T10:10:27Z</dcterms:created>
  <dcterms:modified xsi:type="dcterms:W3CDTF">2026-06-07T10:10:27Z</dcterms:modified>
</cp:coreProperties>
</file>